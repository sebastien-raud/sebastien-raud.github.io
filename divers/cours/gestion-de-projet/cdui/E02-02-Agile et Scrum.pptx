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5143500" cx="9144000"/>
  <p:notesSz cx="6858000" cy="9144000"/>
  <p:embeddedFontLst>
    <p:embeddedFont>
      <p:font typeface="Montserrat"/>
      <p:regular r:id="rId35"/>
      <p:bold r:id="rId36"/>
      <p:italic r:id="rId37"/>
      <p:boldItalic r:id="rId38"/>
    </p:embeddedFont>
    <p:embeddedFont>
      <p:font typeface="Montserrat Medium"/>
      <p:regular r:id="rId39"/>
      <p:bold r:id="rId40"/>
      <p:italic r:id="rId41"/>
      <p:boldItalic r:id="rId42"/>
    </p:embeddedFont>
    <p:embeddedFont>
      <p:font typeface="Oswald"/>
      <p:regular r:id="rId43"/>
      <p:bold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Medium-bold.fntdata"/><Relationship Id="rId20" Type="http://schemas.openxmlformats.org/officeDocument/2006/relationships/slide" Target="slides/slide15.xml"/><Relationship Id="rId42" Type="http://schemas.openxmlformats.org/officeDocument/2006/relationships/font" Target="fonts/MontserratMedium-boldItalic.fntdata"/><Relationship Id="rId41" Type="http://schemas.openxmlformats.org/officeDocument/2006/relationships/font" Target="fonts/MontserratMedium-italic.fntdata"/><Relationship Id="rId22" Type="http://schemas.openxmlformats.org/officeDocument/2006/relationships/slide" Target="slides/slide17.xml"/><Relationship Id="rId44" Type="http://schemas.openxmlformats.org/officeDocument/2006/relationships/font" Target="fonts/Oswald-bold.fntdata"/><Relationship Id="rId21" Type="http://schemas.openxmlformats.org/officeDocument/2006/relationships/slide" Target="slides/slide16.xml"/><Relationship Id="rId43" Type="http://schemas.openxmlformats.org/officeDocument/2006/relationships/font" Target="fonts/Oswald-regular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Montserrat-regular.fntdata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Montserrat-italic.fntdata"/><Relationship Id="rId14" Type="http://schemas.openxmlformats.org/officeDocument/2006/relationships/slide" Target="slides/slide9.xml"/><Relationship Id="rId36" Type="http://schemas.openxmlformats.org/officeDocument/2006/relationships/font" Target="fonts/Montserrat-bold.fntdata"/><Relationship Id="rId17" Type="http://schemas.openxmlformats.org/officeDocument/2006/relationships/slide" Target="slides/slide12.xml"/><Relationship Id="rId39" Type="http://schemas.openxmlformats.org/officeDocument/2006/relationships/font" Target="fonts/MontserratMedium-regular.fntdata"/><Relationship Id="rId16" Type="http://schemas.openxmlformats.org/officeDocument/2006/relationships/slide" Target="slides/slide11.xml"/><Relationship Id="rId38" Type="http://schemas.openxmlformats.org/officeDocument/2006/relationships/font" Target="fonts/Montserrat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1f2ccdf77b1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1f2ccdf77b1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f2ccdf77b1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f2ccdf77b1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e6c199b7e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e6c199b7e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e6c199b7e2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e6c199b7e2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e6c199b7e2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2e6c199b7e2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e6c199b7e2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2e6c199b7e2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e6c199b7e2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2e6c199b7e2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e6c199b7e2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2e6c199b7e2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e6c199b7e2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2e6c199b7e2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e6c199b7e2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2e6c199b7e2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e6c199b7e2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2e6c199b7e2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e6c199b7e2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2e6c199b7e2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e6c199b7e2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e6c199b7e2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e6c199b7e2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2e6c199b7e2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e6c199b7e2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2e6c199b7e2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e6c199b7e2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2e6c199b7e2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e6c199b7e2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2e6c199b7e2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e6c199b7e2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2e6c199b7e2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2e6c199b7e2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2e6c199b7e2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2e6c199b7e2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2e6c199b7e2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e6c199b7e2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2e6c199b7e2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2e6c199b7e2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2e6c199b7e2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2e6c199b7e2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2e6c199b7e2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2e6c199b7e2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2e6c199b7e2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2e6c199b7e2_0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2e6c199b7e2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2e6c199b7e2_0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2e6c199b7e2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2e6c199b7e2_0_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2e6c199b7e2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e6c9ce67cd_0_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2e6c9ce67cd_0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9" name="Google Shape;9;p1"/>
          <p:cNvSpPr/>
          <p:nvPr/>
        </p:nvSpPr>
        <p:spPr>
          <a:xfrm>
            <a:off x="-7200" y="0"/>
            <a:ext cx="9158400" cy="1546500"/>
          </a:xfrm>
          <a:prstGeom prst="rect">
            <a:avLst/>
          </a:prstGeom>
          <a:solidFill>
            <a:srgbClr val="FFB4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" name="Google Shape;10;p1"/>
          <p:cNvSpPr/>
          <p:nvPr/>
        </p:nvSpPr>
        <p:spPr>
          <a:xfrm>
            <a:off x="1254150" y="696900"/>
            <a:ext cx="6635700" cy="3901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hyperlink" Target="https://www.cs.nmt.edu/~cs328/reading/Standish.pdf" TargetMode="External"/><Relationship Id="rId5" Type="http://schemas.openxmlformats.org/officeDocument/2006/relationships/hyperlink" Target="https://fr.wikipedia.org/wiki/Standish_Group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hyperlink" Target="https://agilemanifesto.org/iso/fr/manifesto.html" TargetMode="External"/><Relationship Id="rId5" Type="http://schemas.openxmlformats.org/officeDocument/2006/relationships/hyperlink" Target="https://agilemanifesto.org/iso/fr/manifesto.html" TargetMode="External"/><Relationship Id="rId6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hyperlink" Target="https://agilemanifesto.org/iso/fr/manifesto.html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hyperlink" Target="https://www.nutcache.com/fr/blog/les-methodes-agiles/" TargetMode="External"/><Relationship Id="rId5" Type="http://schemas.openxmlformats.org/officeDocument/2006/relationships/hyperlink" Target="https://fr.wikipedia.org/wiki/Scrum_(d%C3%A9veloppement)" TargetMode="External"/><Relationship Id="rId6" Type="http://schemas.openxmlformats.org/officeDocument/2006/relationships/hyperlink" Target="https://fr.wikipedia.org/wiki/Extreme_programming" TargetMode="External"/><Relationship Id="rId7" Type="http://schemas.openxmlformats.org/officeDocument/2006/relationships/hyperlink" Target="https://fr.wikipedia.org/wiki/Programmation_pilot%C3%A9e_par_le_comportement" TargetMode="External"/><Relationship Id="rId8" Type="http://schemas.openxmlformats.org/officeDocument/2006/relationships/hyperlink" Target="https://fr.wikipedia.org/wiki/Crystal_clear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hyperlink" Target="https://scrumguides.org/docs/scrumguide/v2020/2020-Scrum-Guide-French.pdf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7613" y="4598574"/>
            <a:ext cx="968774" cy="5449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2390400" y="953475"/>
            <a:ext cx="4363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000">
                <a:solidFill>
                  <a:schemeClr val="dk1"/>
                </a:solidFill>
              </a:rPr>
              <a:t>Agile et Scrum</a:t>
            </a:r>
            <a:endParaRPr b="1" sz="3000">
              <a:solidFill>
                <a:schemeClr val="dk1"/>
              </a:solidFill>
            </a:endParaRPr>
          </a:p>
        </p:txBody>
      </p:sp>
      <p:pic>
        <p:nvPicPr>
          <p:cNvPr id="58" name="Google Shape;5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90400" y="1752864"/>
            <a:ext cx="4363200" cy="22797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7613" y="4598574"/>
            <a:ext cx="968774" cy="544925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/>
          <p:nvPr/>
        </p:nvSpPr>
        <p:spPr>
          <a:xfrm>
            <a:off x="-7200" y="0"/>
            <a:ext cx="9158400" cy="1546500"/>
          </a:xfrm>
          <a:prstGeom prst="rect">
            <a:avLst/>
          </a:prstGeom>
          <a:solidFill>
            <a:srgbClr val="FFB4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4"/>
          <p:cNvSpPr/>
          <p:nvPr/>
        </p:nvSpPr>
        <p:spPr>
          <a:xfrm>
            <a:off x="1254150" y="696900"/>
            <a:ext cx="6635700" cy="3901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4"/>
          <p:cNvSpPr txBox="1"/>
          <p:nvPr/>
        </p:nvSpPr>
        <p:spPr>
          <a:xfrm>
            <a:off x="2390400" y="953475"/>
            <a:ext cx="4363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000">
                <a:solidFill>
                  <a:schemeClr val="dk1"/>
                </a:solidFill>
              </a:rPr>
              <a:t>AU MENU</a:t>
            </a:r>
            <a:endParaRPr b="1" sz="3000">
              <a:solidFill>
                <a:schemeClr val="dk1"/>
              </a:solidFill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2390400" y="1793550"/>
            <a:ext cx="43632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-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Agile, dans le détail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-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le framework Scrum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68" name="Google Shape;6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81303" y="3091125"/>
            <a:ext cx="1808551" cy="1507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7613" y="4598574"/>
            <a:ext cx="968774" cy="544925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5"/>
          <p:cNvSpPr/>
          <p:nvPr/>
        </p:nvSpPr>
        <p:spPr>
          <a:xfrm>
            <a:off x="-7200" y="0"/>
            <a:ext cx="9158400" cy="1546500"/>
          </a:xfrm>
          <a:prstGeom prst="rect">
            <a:avLst/>
          </a:prstGeom>
          <a:solidFill>
            <a:srgbClr val="FFB4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5"/>
          <p:cNvSpPr/>
          <p:nvPr/>
        </p:nvSpPr>
        <p:spPr>
          <a:xfrm>
            <a:off x="363600" y="696900"/>
            <a:ext cx="8279700" cy="3901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5"/>
          <p:cNvSpPr txBox="1"/>
          <p:nvPr/>
        </p:nvSpPr>
        <p:spPr>
          <a:xfrm>
            <a:off x="363600" y="296700"/>
            <a:ext cx="273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Agile et Scrum</a:t>
            </a:r>
            <a:endParaRPr b="1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2213250" y="817875"/>
            <a:ext cx="458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000">
                <a:solidFill>
                  <a:schemeClr val="dk1"/>
                </a:solidFill>
              </a:rPr>
              <a:t>Agile - Pourquoi ?</a:t>
            </a:r>
            <a:endParaRPr b="1" sz="3000">
              <a:solidFill>
                <a:schemeClr val="dk1"/>
              </a:solidFill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755250" y="1585350"/>
            <a:ext cx="7496400" cy="26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●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issu du monde du développement logiciel</a:t>
            </a:r>
            <a:b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●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depuis les années 50 de nombreuses méthodes existent</a:t>
            </a:r>
            <a:b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●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les projets sont souvent complexes et échouent, </a:t>
            </a: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en 1994</a:t>
            </a: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*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○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31% sont stoppés 😰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○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52% dépassent de 189% le budget prévu 😧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○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mais 16% réussissent dans les coûts et délais 😇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755250" y="4133825"/>
            <a:ext cx="74964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* </a:t>
            </a:r>
            <a:r>
              <a:rPr lang="fr" sz="13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Chaos Repport 1994</a:t>
            </a:r>
            <a:r>
              <a:rPr lang="fr"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du </a:t>
            </a:r>
            <a:r>
              <a:rPr lang="fr" sz="13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5"/>
              </a:rPr>
              <a:t>Standish Group</a:t>
            </a:r>
            <a:endParaRPr sz="13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7613" y="4598574"/>
            <a:ext cx="968774" cy="544925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6"/>
          <p:cNvSpPr/>
          <p:nvPr/>
        </p:nvSpPr>
        <p:spPr>
          <a:xfrm>
            <a:off x="-7200" y="0"/>
            <a:ext cx="9158400" cy="1546500"/>
          </a:xfrm>
          <a:prstGeom prst="rect">
            <a:avLst/>
          </a:prstGeom>
          <a:solidFill>
            <a:srgbClr val="FFB4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6"/>
          <p:cNvSpPr/>
          <p:nvPr/>
        </p:nvSpPr>
        <p:spPr>
          <a:xfrm>
            <a:off x="363600" y="696900"/>
            <a:ext cx="8279700" cy="3901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6"/>
          <p:cNvSpPr txBox="1"/>
          <p:nvPr/>
        </p:nvSpPr>
        <p:spPr>
          <a:xfrm>
            <a:off x="363600" y="296700"/>
            <a:ext cx="273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Agile et Scrum</a:t>
            </a:r>
            <a:endParaRPr b="1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8" name="Google Shape;88;p16"/>
          <p:cNvSpPr txBox="1"/>
          <p:nvPr/>
        </p:nvSpPr>
        <p:spPr>
          <a:xfrm>
            <a:off x="2213250" y="817875"/>
            <a:ext cx="458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000">
                <a:solidFill>
                  <a:schemeClr val="dk1"/>
                </a:solidFill>
              </a:rPr>
              <a:t>Agile - Comment ?</a:t>
            </a:r>
            <a:endParaRPr b="1" sz="3000">
              <a:solidFill>
                <a:schemeClr val="dk1"/>
              </a:solidFill>
            </a:endParaRPr>
          </a:p>
        </p:txBody>
      </p:sp>
      <p:sp>
        <p:nvSpPr>
          <p:cNvPr id="89" name="Google Shape;89;p16"/>
          <p:cNvSpPr txBox="1"/>
          <p:nvPr/>
        </p:nvSpPr>
        <p:spPr>
          <a:xfrm>
            <a:off x="755250" y="1585350"/>
            <a:ext cx="4734000" cy="29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ontserrat Medium"/>
              <a:buChar char="●"/>
            </a:pPr>
            <a:r>
              <a:rPr lang="fr" sz="16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en 2001, 17 personnalités du développement logiciel se réunissent</a:t>
            </a:r>
            <a:br>
              <a:rPr lang="fr" sz="16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endParaRPr sz="16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ontserrat Medium"/>
              <a:buChar char="●"/>
            </a:pPr>
            <a:r>
              <a:rPr lang="fr" sz="16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elles échangent sur leurs méthodes</a:t>
            </a:r>
            <a:br>
              <a:rPr lang="fr" sz="16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endParaRPr sz="16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ontserrat Medium"/>
              <a:buChar char="●"/>
            </a:pPr>
            <a:r>
              <a:rPr lang="fr" sz="16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déterminent des critères communs et principes</a:t>
            </a:r>
            <a:br>
              <a:rPr lang="fr" sz="16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endParaRPr sz="16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ontserrat Medium"/>
              <a:buChar char="●"/>
            </a:pPr>
            <a:r>
              <a:rPr lang="fr" sz="16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 cette réunion émerge le </a:t>
            </a:r>
            <a:r>
              <a:rPr lang="fr" sz="1600" u="sng">
                <a:solidFill>
                  <a:schemeClr val="hlink"/>
                </a:solidFill>
                <a:latin typeface="Montserrat Medium"/>
                <a:ea typeface="Montserrat Medium"/>
                <a:cs typeface="Montserrat Medium"/>
                <a:sym typeface="Montserrat Medium"/>
                <a:hlinkClick r:id="rId4"/>
              </a:rPr>
              <a:t>Manifeste</a:t>
            </a:r>
            <a:r>
              <a:rPr lang="fr" sz="1600" u="sng">
                <a:solidFill>
                  <a:schemeClr val="hlink"/>
                </a:solidFill>
                <a:latin typeface="Montserrat Medium"/>
                <a:ea typeface="Montserrat Medium"/>
                <a:cs typeface="Montserrat Medium"/>
                <a:sym typeface="Montserrat Medium"/>
                <a:hlinkClick r:id="rId5"/>
              </a:rPr>
              <a:t> agile</a:t>
            </a:r>
            <a:endParaRPr sz="16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90" name="Google Shape;90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91725" y="1813875"/>
            <a:ext cx="2630400" cy="197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7613" y="4598574"/>
            <a:ext cx="968774" cy="54492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7"/>
          <p:cNvSpPr/>
          <p:nvPr/>
        </p:nvSpPr>
        <p:spPr>
          <a:xfrm>
            <a:off x="-7200" y="0"/>
            <a:ext cx="9158400" cy="1546500"/>
          </a:xfrm>
          <a:prstGeom prst="rect">
            <a:avLst/>
          </a:prstGeom>
          <a:solidFill>
            <a:srgbClr val="FFB4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7"/>
          <p:cNvSpPr/>
          <p:nvPr/>
        </p:nvSpPr>
        <p:spPr>
          <a:xfrm>
            <a:off x="363600" y="696900"/>
            <a:ext cx="8279700" cy="3901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7"/>
          <p:cNvSpPr txBox="1"/>
          <p:nvPr/>
        </p:nvSpPr>
        <p:spPr>
          <a:xfrm>
            <a:off x="363600" y="296700"/>
            <a:ext cx="273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Agile et Scrum</a:t>
            </a:r>
            <a:endParaRPr b="1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99" name="Google Shape;99;p17"/>
          <p:cNvSpPr txBox="1"/>
          <p:nvPr/>
        </p:nvSpPr>
        <p:spPr>
          <a:xfrm>
            <a:off x="2213250" y="817875"/>
            <a:ext cx="458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000">
                <a:solidFill>
                  <a:schemeClr val="dk1"/>
                </a:solidFill>
              </a:rPr>
              <a:t>Agile - Le </a:t>
            </a:r>
            <a:r>
              <a:rPr b="1" lang="fr" sz="3000" u="sng">
                <a:solidFill>
                  <a:schemeClr val="hlink"/>
                </a:solidFill>
                <a:hlinkClick r:id="rId4"/>
              </a:rPr>
              <a:t>Manifeste</a:t>
            </a:r>
            <a:endParaRPr b="1" sz="3000">
              <a:solidFill>
                <a:schemeClr val="dk1"/>
              </a:solidFill>
            </a:endParaRPr>
          </a:p>
        </p:txBody>
      </p:sp>
      <p:sp>
        <p:nvSpPr>
          <p:cNvPr id="100" name="Google Shape;100;p17"/>
          <p:cNvSpPr txBox="1"/>
          <p:nvPr/>
        </p:nvSpPr>
        <p:spPr>
          <a:xfrm>
            <a:off x="755250" y="1585350"/>
            <a:ext cx="74964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●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forte implication du client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●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réactivité face à la demande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●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développement itératif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●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production incrémentale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●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production adaptative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●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validation à chaque étape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●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autonomie des équipes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7613" y="4598574"/>
            <a:ext cx="968774" cy="54492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8"/>
          <p:cNvSpPr/>
          <p:nvPr/>
        </p:nvSpPr>
        <p:spPr>
          <a:xfrm>
            <a:off x="-7200" y="0"/>
            <a:ext cx="9158400" cy="1546500"/>
          </a:xfrm>
          <a:prstGeom prst="rect">
            <a:avLst/>
          </a:prstGeom>
          <a:solidFill>
            <a:srgbClr val="FFB4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8"/>
          <p:cNvSpPr/>
          <p:nvPr/>
        </p:nvSpPr>
        <p:spPr>
          <a:xfrm>
            <a:off x="363600" y="696900"/>
            <a:ext cx="8279700" cy="3901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8"/>
          <p:cNvSpPr txBox="1"/>
          <p:nvPr/>
        </p:nvSpPr>
        <p:spPr>
          <a:xfrm>
            <a:off x="363600" y="296700"/>
            <a:ext cx="273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Agile et Scrum</a:t>
            </a:r>
            <a:endParaRPr b="1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09" name="Google Shape;109;p18"/>
          <p:cNvSpPr txBox="1"/>
          <p:nvPr/>
        </p:nvSpPr>
        <p:spPr>
          <a:xfrm>
            <a:off x="2213250" y="817875"/>
            <a:ext cx="458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000">
                <a:solidFill>
                  <a:schemeClr val="dk1"/>
                </a:solidFill>
              </a:rPr>
              <a:t>Agile - C’est quoi ?</a:t>
            </a:r>
            <a:endParaRPr b="1" sz="3000">
              <a:solidFill>
                <a:schemeClr val="dk1"/>
              </a:solidFill>
            </a:endParaRPr>
          </a:p>
        </p:txBody>
      </p:sp>
      <p:sp>
        <p:nvSpPr>
          <p:cNvPr id="110" name="Google Shape;110;p18"/>
          <p:cNvSpPr txBox="1"/>
          <p:nvPr/>
        </p:nvSpPr>
        <p:spPr>
          <a:xfrm>
            <a:off x="755250" y="1585350"/>
            <a:ext cx="7496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●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une approche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●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une philosophie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●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une démarche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11" name="Google Shape;111;p18"/>
          <p:cNvSpPr txBox="1"/>
          <p:nvPr/>
        </p:nvSpPr>
        <p:spPr>
          <a:xfrm>
            <a:off x="878150" y="3045750"/>
            <a:ext cx="7496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Mais ce n’est pas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●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une méthode projet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●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une structure d’organisation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7613" y="4598574"/>
            <a:ext cx="968774" cy="54492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9"/>
          <p:cNvSpPr/>
          <p:nvPr/>
        </p:nvSpPr>
        <p:spPr>
          <a:xfrm>
            <a:off x="-7200" y="0"/>
            <a:ext cx="9158400" cy="1546500"/>
          </a:xfrm>
          <a:prstGeom prst="rect">
            <a:avLst/>
          </a:prstGeom>
          <a:solidFill>
            <a:srgbClr val="FFB4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9"/>
          <p:cNvSpPr/>
          <p:nvPr/>
        </p:nvSpPr>
        <p:spPr>
          <a:xfrm>
            <a:off x="363600" y="696900"/>
            <a:ext cx="8279700" cy="3901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9"/>
          <p:cNvSpPr txBox="1"/>
          <p:nvPr/>
        </p:nvSpPr>
        <p:spPr>
          <a:xfrm>
            <a:off x="363600" y="296700"/>
            <a:ext cx="273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Agile et Scrum</a:t>
            </a:r>
            <a:endParaRPr b="1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0" name="Google Shape;120;p19"/>
          <p:cNvSpPr txBox="1"/>
          <p:nvPr/>
        </p:nvSpPr>
        <p:spPr>
          <a:xfrm>
            <a:off x="2213250" y="817875"/>
            <a:ext cx="458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000">
                <a:solidFill>
                  <a:schemeClr val="dk1"/>
                </a:solidFill>
              </a:rPr>
              <a:t>Agile - Attention !</a:t>
            </a:r>
            <a:endParaRPr b="1" sz="3000">
              <a:solidFill>
                <a:schemeClr val="dk1"/>
              </a:solidFill>
            </a:endParaRPr>
          </a:p>
        </p:txBody>
      </p:sp>
      <p:sp>
        <p:nvSpPr>
          <p:cNvPr id="121" name="Google Shape;121;p19"/>
          <p:cNvSpPr txBox="1"/>
          <p:nvPr/>
        </p:nvSpPr>
        <p:spPr>
          <a:xfrm>
            <a:off x="755250" y="1585350"/>
            <a:ext cx="7496400" cy="30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Agile ce n’est pas l’anarchie !</a:t>
            </a:r>
            <a:endParaRPr b="1" sz="16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 On </a:t>
            </a:r>
            <a:r>
              <a:rPr b="1" lang="fr"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DOIT</a:t>
            </a:r>
            <a:r>
              <a:rPr lang="fr" sz="16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organiser</a:t>
            </a:r>
            <a:r>
              <a:rPr lang="fr" sz="16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</a:t>
            </a:r>
            <a:r>
              <a:rPr lang="fr" sz="16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structurer</a:t>
            </a:r>
            <a:r>
              <a:rPr lang="fr" sz="16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</a:t>
            </a:r>
            <a:r>
              <a:rPr lang="fr" sz="16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documenter !</a:t>
            </a:r>
            <a:br>
              <a:rPr lang="fr" sz="16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r>
              <a:rPr lang="fr" sz="16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 D’ailleurs les projets agiles exigent discipline et rigueur !</a:t>
            </a:r>
            <a:endParaRPr sz="16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Ce n’est que pour le développement logiciel !</a:t>
            </a:r>
            <a:endParaRPr b="1" sz="16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 Ça vient du logiciel, mais les cadres agiles peuvent s’appliquer à différents domaines.</a:t>
            </a:r>
            <a:endParaRPr sz="16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Ça ne fonctionne pas !</a:t>
            </a:r>
            <a:br>
              <a:rPr b="1" lang="fr"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fr" sz="16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 Si si, mais il faut bien appliquer les cadres pour avoir des résultats !</a:t>
            </a:r>
            <a:endParaRPr sz="16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7613" y="4598574"/>
            <a:ext cx="968774" cy="54492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0"/>
          <p:cNvSpPr/>
          <p:nvPr/>
        </p:nvSpPr>
        <p:spPr>
          <a:xfrm>
            <a:off x="-7200" y="0"/>
            <a:ext cx="9158400" cy="1546500"/>
          </a:xfrm>
          <a:prstGeom prst="rect">
            <a:avLst/>
          </a:prstGeom>
          <a:solidFill>
            <a:srgbClr val="FFB4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0"/>
          <p:cNvSpPr/>
          <p:nvPr/>
        </p:nvSpPr>
        <p:spPr>
          <a:xfrm>
            <a:off x="363600" y="696900"/>
            <a:ext cx="8279700" cy="3901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0"/>
          <p:cNvSpPr txBox="1"/>
          <p:nvPr/>
        </p:nvSpPr>
        <p:spPr>
          <a:xfrm>
            <a:off x="363600" y="296700"/>
            <a:ext cx="273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Agile et Scrum</a:t>
            </a:r>
            <a:endParaRPr b="1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0" name="Google Shape;130;p20"/>
          <p:cNvSpPr txBox="1"/>
          <p:nvPr/>
        </p:nvSpPr>
        <p:spPr>
          <a:xfrm>
            <a:off x="2213250" y="817875"/>
            <a:ext cx="458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000">
                <a:solidFill>
                  <a:schemeClr val="dk1"/>
                </a:solidFill>
              </a:rPr>
              <a:t>Agile - Quand l’utiliser ?</a:t>
            </a:r>
            <a:endParaRPr b="1" sz="3000">
              <a:solidFill>
                <a:schemeClr val="dk1"/>
              </a:solidFill>
            </a:endParaRPr>
          </a:p>
        </p:txBody>
      </p:sp>
      <p:sp>
        <p:nvSpPr>
          <p:cNvPr id="131" name="Google Shape;131;p20"/>
          <p:cNvSpPr txBox="1"/>
          <p:nvPr/>
        </p:nvSpPr>
        <p:spPr>
          <a:xfrm>
            <a:off x="755250" y="1585350"/>
            <a:ext cx="74964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●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quand un besoin n’est pas complètement identifié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●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quand le besoin peut varier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●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quand on doit tester / expérimenter / innover</a:t>
            </a:r>
            <a:b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Et que le client est disponible et prêt à “jouer le jeu” !</a:t>
            </a:r>
            <a:endParaRPr b="1"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7613" y="4598574"/>
            <a:ext cx="968774" cy="54492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1"/>
          <p:cNvSpPr/>
          <p:nvPr/>
        </p:nvSpPr>
        <p:spPr>
          <a:xfrm>
            <a:off x="-7200" y="0"/>
            <a:ext cx="9158400" cy="1546500"/>
          </a:xfrm>
          <a:prstGeom prst="rect">
            <a:avLst/>
          </a:prstGeom>
          <a:solidFill>
            <a:srgbClr val="FFB4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1"/>
          <p:cNvSpPr/>
          <p:nvPr/>
        </p:nvSpPr>
        <p:spPr>
          <a:xfrm>
            <a:off x="363600" y="696900"/>
            <a:ext cx="8279700" cy="3901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1"/>
          <p:cNvSpPr txBox="1"/>
          <p:nvPr/>
        </p:nvSpPr>
        <p:spPr>
          <a:xfrm>
            <a:off x="363600" y="296700"/>
            <a:ext cx="273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Agile et Scrum</a:t>
            </a:r>
            <a:endParaRPr b="1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0" name="Google Shape;140;p21"/>
          <p:cNvSpPr txBox="1"/>
          <p:nvPr/>
        </p:nvSpPr>
        <p:spPr>
          <a:xfrm>
            <a:off x="2213250" y="817875"/>
            <a:ext cx="458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000">
                <a:solidFill>
                  <a:schemeClr val="dk1"/>
                </a:solidFill>
              </a:rPr>
              <a:t>Agile - Les méthodes</a:t>
            </a:r>
            <a:endParaRPr b="1" sz="3000">
              <a:solidFill>
                <a:schemeClr val="dk1"/>
              </a:solidFill>
            </a:endParaRPr>
          </a:p>
        </p:txBody>
      </p:sp>
      <p:sp>
        <p:nvSpPr>
          <p:cNvPr id="141" name="Google Shape;141;p21"/>
          <p:cNvSpPr txBox="1"/>
          <p:nvPr/>
        </p:nvSpPr>
        <p:spPr>
          <a:xfrm>
            <a:off x="755250" y="1585350"/>
            <a:ext cx="7496400" cy="25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Certaines existaient avant le Manifeste et s’y inscrivent.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Il en existe </a:t>
            </a:r>
            <a:r>
              <a:rPr lang="fr" sz="1800" u="sng">
                <a:solidFill>
                  <a:schemeClr val="hlink"/>
                </a:solidFill>
                <a:latin typeface="Montserrat Medium"/>
                <a:ea typeface="Montserrat Medium"/>
                <a:cs typeface="Montserrat Medium"/>
                <a:sym typeface="Montserrat Medium"/>
                <a:hlinkClick r:id="rId4"/>
              </a:rPr>
              <a:t>beaucoup</a:t>
            </a: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!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●"/>
            </a:pPr>
            <a:r>
              <a:rPr lang="fr" sz="1800" u="sng">
                <a:solidFill>
                  <a:schemeClr val="hlink"/>
                </a:solidFill>
                <a:latin typeface="Montserrat Medium"/>
                <a:ea typeface="Montserrat Medium"/>
                <a:cs typeface="Montserrat Medium"/>
                <a:sym typeface="Montserrat Medium"/>
                <a:hlinkClick r:id="rId5"/>
              </a:rPr>
              <a:t>Scrum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●"/>
            </a:pPr>
            <a:r>
              <a:rPr lang="fr" sz="1800" u="sng">
                <a:solidFill>
                  <a:schemeClr val="hlink"/>
                </a:solidFill>
                <a:latin typeface="Montserrat Medium"/>
                <a:ea typeface="Montserrat Medium"/>
                <a:cs typeface="Montserrat Medium"/>
                <a:sym typeface="Montserrat Medium"/>
                <a:hlinkClick r:id="rId6"/>
              </a:rPr>
              <a:t>Extrem programming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●"/>
            </a:pPr>
            <a:r>
              <a:rPr lang="fr" sz="1800" u="sng">
                <a:solidFill>
                  <a:schemeClr val="hlink"/>
                </a:solidFill>
                <a:latin typeface="Montserrat Medium"/>
                <a:ea typeface="Montserrat Medium"/>
                <a:cs typeface="Montserrat Medium"/>
                <a:sym typeface="Montserrat Medium"/>
                <a:hlinkClick r:id="rId7"/>
              </a:rPr>
              <a:t>BDD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●"/>
            </a:pPr>
            <a:r>
              <a:rPr lang="fr" sz="1800" u="sng">
                <a:solidFill>
                  <a:schemeClr val="hlink"/>
                </a:solidFill>
                <a:latin typeface="Montserrat Medium"/>
                <a:ea typeface="Montserrat Medium"/>
                <a:cs typeface="Montserrat Medium"/>
                <a:sym typeface="Montserrat Medium"/>
                <a:hlinkClick r:id="rId8"/>
              </a:rPr>
              <a:t>Crystal Clear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●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…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7613" y="4598574"/>
            <a:ext cx="968774" cy="54492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2"/>
          <p:cNvSpPr/>
          <p:nvPr/>
        </p:nvSpPr>
        <p:spPr>
          <a:xfrm>
            <a:off x="-7200" y="0"/>
            <a:ext cx="9158400" cy="1546500"/>
          </a:xfrm>
          <a:prstGeom prst="rect">
            <a:avLst/>
          </a:prstGeom>
          <a:solidFill>
            <a:srgbClr val="FFB4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2"/>
          <p:cNvSpPr/>
          <p:nvPr/>
        </p:nvSpPr>
        <p:spPr>
          <a:xfrm>
            <a:off x="363600" y="696900"/>
            <a:ext cx="8279700" cy="3901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2"/>
          <p:cNvSpPr txBox="1"/>
          <p:nvPr/>
        </p:nvSpPr>
        <p:spPr>
          <a:xfrm>
            <a:off x="363600" y="296700"/>
            <a:ext cx="273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Agile et Scrum</a:t>
            </a:r>
            <a:endParaRPr b="1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0" name="Google Shape;150;p22"/>
          <p:cNvSpPr txBox="1"/>
          <p:nvPr/>
        </p:nvSpPr>
        <p:spPr>
          <a:xfrm>
            <a:off x="2213250" y="817875"/>
            <a:ext cx="458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000">
                <a:solidFill>
                  <a:schemeClr val="dk1"/>
                </a:solidFill>
              </a:rPr>
              <a:t>Scrum</a:t>
            </a:r>
            <a:endParaRPr b="1" sz="3000">
              <a:solidFill>
                <a:schemeClr val="dk1"/>
              </a:solidFill>
            </a:endParaRPr>
          </a:p>
        </p:txBody>
      </p:sp>
      <p:sp>
        <p:nvSpPr>
          <p:cNvPr id="151" name="Google Shape;151;p22"/>
          <p:cNvSpPr txBox="1"/>
          <p:nvPr/>
        </p:nvSpPr>
        <p:spPr>
          <a:xfrm>
            <a:off x="755250" y="1585350"/>
            <a:ext cx="7496400" cy="26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●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Scrum : mêlée (de rugby)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●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framework agile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●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très utilisé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●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itératif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●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basé sur la collaboration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●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fondements en 1986 puis 1995 (communication)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●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formalisation en 2002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●"/>
            </a:pPr>
            <a:r>
              <a:rPr lang="fr" sz="1800" u="sng">
                <a:solidFill>
                  <a:schemeClr val="hlink"/>
                </a:solidFill>
                <a:latin typeface="Montserrat Medium"/>
                <a:ea typeface="Montserrat Medium"/>
                <a:cs typeface="Montserrat Medium"/>
                <a:sym typeface="Montserrat Medium"/>
                <a:hlinkClick r:id="rId4"/>
              </a:rPr>
              <a:t>Guide Scrum</a:t>
            </a: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en 2010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7613" y="4598574"/>
            <a:ext cx="968774" cy="54492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3"/>
          <p:cNvSpPr/>
          <p:nvPr/>
        </p:nvSpPr>
        <p:spPr>
          <a:xfrm>
            <a:off x="-7200" y="0"/>
            <a:ext cx="9158400" cy="1546500"/>
          </a:xfrm>
          <a:prstGeom prst="rect">
            <a:avLst/>
          </a:prstGeom>
          <a:solidFill>
            <a:srgbClr val="FFB4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3"/>
          <p:cNvSpPr/>
          <p:nvPr/>
        </p:nvSpPr>
        <p:spPr>
          <a:xfrm>
            <a:off x="363600" y="696900"/>
            <a:ext cx="8279700" cy="3901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3"/>
          <p:cNvSpPr txBox="1"/>
          <p:nvPr/>
        </p:nvSpPr>
        <p:spPr>
          <a:xfrm>
            <a:off x="363600" y="296700"/>
            <a:ext cx="273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Agile et Scrum</a:t>
            </a:r>
            <a:endParaRPr b="1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0" name="Google Shape;160;p23"/>
          <p:cNvSpPr txBox="1"/>
          <p:nvPr/>
        </p:nvSpPr>
        <p:spPr>
          <a:xfrm>
            <a:off x="2213250" y="817875"/>
            <a:ext cx="458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000">
                <a:solidFill>
                  <a:schemeClr val="dk1"/>
                </a:solidFill>
              </a:rPr>
              <a:t>Scrum - Comment ?</a:t>
            </a:r>
            <a:endParaRPr b="1" sz="3000">
              <a:solidFill>
                <a:schemeClr val="dk1"/>
              </a:solidFill>
            </a:endParaRPr>
          </a:p>
        </p:txBody>
      </p:sp>
      <p:sp>
        <p:nvSpPr>
          <p:cNvPr id="161" name="Google Shape;161;p23"/>
          <p:cNvSpPr txBox="1"/>
          <p:nvPr/>
        </p:nvSpPr>
        <p:spPr>
          <a:xfrm>
            <a:off x="755250" y="1585350"/>
            <a:ext cx="7496400" cy="20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●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équipes pluridisciplinaires et auto-organisées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●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produits réalisés de façon itérative et incrémentale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●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des cycles de 1 mois ou moins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●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des rôles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●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des </a:t>
            </a: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événements</a:t>
            </a: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/ cérémonies / rituels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●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des livrables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7613" y="4598574"/>
            <a:ext cx="968774" cy="544925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4"/>
          <p:cNvSpPr/>
          <p:nvPr/>
        </p:nvSpPr>
        <p:spPr>
          <a:xfrm>
            <a:off x="-7200" y="0"/>
            <a:ext cx="9158400" cy="1546500"/>
          </a:xfrm>
          <a:prstGeom prst="rect">
            <a:avLst/>
          </a:prstGeom>
          <a:solidFill>
            <a:srgbClr val="FFB4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4"/>
          <p:cNvSpPr/>
          <p:nvPr/>
        </p:nvSpPr>
        <p:spPr>
          <a:xfrm>
            <a:off x="363600" y="696900"/>
            <a:ext cx="8279700" cy="3901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4"/>
          <p:cNvSpPr txBox="1"/>
          <p:nvPr/>
        </p:nvSpPr>
        <p:spPr>
          <a:xfrm>
            <a:off x="363600" y="296700"/>
            <a:ext cx="273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Agile et Scrum</a:t>
            </a:r>
            <a:endParaRPr b="1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70" name="Google Shape;170;p24"/>
          <p:cNvSpPr txBox="1"/>
          <p:nvPr/>
        </p:nvSpPr>
        <p:spPr>
          <a:xfrm>
            <a:off x="2213250" y="817875"/>
            <a:ext cx="458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000">
                <a:solidFill>
                  <a:schemeClr val="dk1"/>
                </a:solidFill>
              </a:rPr>
              <a:t>Scrum - Sprint</a:t>
            </a:r>
            <a:endParaRPr b="1" sz="3000">
              <a:solidFill>
                <a:schemeClr val="dk1"/>
              </a:solidFill>
            </a:endParaRPr>
          </a:p>
        </p:txBody>
      </p:sp>
      <p:sp>
        <p:nvSpPr>
          <p:cNvPr id="171" name="Google Shape;171;p24"/>
          <p:cNvSpPr txBox="1"/>
          <p:nvPr/>
        </p:nvSpPr>
        <p:spPr>
          <a:xfrm>
            <a:off x="755250" y="1585350"/>
            <a:ext cx="7496400" cy="25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●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Sprint : pointe de vitesse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●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c’est le cœur de Scrum ! ❤️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●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un Sprint = un cycle de réalisation = une itération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●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objectifs de réalisation fixés avant le Sprint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●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on ne change pas les objectifs du Sprint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●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on peut annuler un Sprint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72" name="Google Shape;172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13400" y="2867438"/>
            <a:ext cx="1885950" cy="153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7613" y="4598574"/>
            <a:ext cx="968774" cy="54492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5"/>
          <p:cNvSpPr/>
          <p:nvPr/>
        </p:nvSpPr>
        <p:spPr>
          <a:xfrm>
            <a:off x="-7200" y="0"/>
            <a:ext cx="9158400" cy="1546500"/>
          </a:xfrm>
          <a:prstGeom prst="rect">
            <a:avLst/>
          </a:prstGeom>
          <a:solidFill>
            <a:srgbClr val="FFB4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5"/>
          <p:cNvSpPr/>
          <p:nvPr/>
        </p:nvSpPr>
        <p:spPr>
          <a:xfrm>
            <a:off x="363600" y="696900"/>
            <a:ext cx="8279700" cy="3901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5"/>
          <p:cNvSpPr txBox="1"/>
          <p:nvPr/>
        </p:nvSpPr>
        <p:spPr>
          <a:xfrm>
            <a:off x="363600" y="296700"/>
            <a:ext cx="273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Agile et Scrum</a:t>
            </a:r>
            <a:endParaRPr b="1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81" name="Google Shape;181;p25"/>
          <p:cNvSpPr txBox="1"/>
          <p:nvPr/>
        </p:nvSpPr>
        <p:spPr>
          <a:xfrm>
            <a:off x="2213250" y="817875"/>
            <a:ext cx="458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000">
                <a:solidFill>
                  <a:schemeClr val="dk1"/>
                </a:solidFill>
              </a:rPr>
              <a:t>Scrum - Sprint</a:t>
            </a:r>
            <a:endParaRPr b="1" sz="3000">
              <a:solidFill>
                <a:schemeClr val="dk1"/>
              </a:solidFill>
            </a:endParaRPr>
          </a:p>
        </p:txBody>
      </p:sp>
      <p:pic>
        <p:nvPicPr>
          <p:cNvPr id="182" name="Google Shape;182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51350" y="3179975"/>
            <a:ext cx="3491950" cy="141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5"/>
          <p:cNvSpPr txBox="1"/>
          <p:nvPr/>
        </p:nvSpPr>
        <p:spPr>
          <a:xfrm>
            <a:off x="755250" y="1585350"/>
            <a:ext cx="74964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●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durée : jusqu’à 1 mois (1 à 4 semaines en général)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●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durée fixe pendant toute la durée du projet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●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débute et termine à des dates précises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●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si le travail n’est pas terminé à la fin : Sprint en échec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●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si le travail est terminé, il est livré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7613" y="4598574"/>
            <a:ext cx="968774" cy="544925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6"/>
          <p:cNvSpPr/>
          <p:nvPr/>
        </p:nvSpPr>
        <p:spPr>
          <a:xfrm>
            <a:off x="-7200" y="0"/>
            <a:ext cx="9158400" cy="1546500"/>
          </a:xfrm>
          <a:prstGeom prst="rect">
            <a:avLst/>
          </a:prstGeom>
          <a:solidFill>
            <a:srgbClr val="FFB4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6"/>
          <p:cNvSpPr/>
          <p:nvPr/>
        </p:nvSpPr>
        <p:spPr>
          <a:xfrm>
            <a:off x="363600" y="696900"/>
            <a:ext cx="8279700" cy="3901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6"/>
          <p:cNvSpPr txBox="1"/>
          <p:nvPr/>
        </p:nvSpPr>
        <p:spPr>
          <a:xfrm>
            <a:off x="363600" y="296700"/>
            <a:ext cx="273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Agile et Scrum</a:t>
            </a:r>
            <a:endParaRPr b="1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92" name="Google Shape;192;p26"/>
          <p:cNvSpPr txBox="1"/>
          <p:nvPr/>
        </p:nvSpPr>
        <p:spPr>
          <a:xfrm>
            <a:off x="2213250" y="817875"/>
            <a:ext cx="458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000">
                <a:solidFill>
                  <a:schemeClr val="dk1"/>
                </a:solidFill>
              </a:rPr>
              <a:t>Scrum - La Scrum Team</a:t>
            </a:r>
            <a:endParaRPr b="1" sz="3000">
              <a:solidFill>
                <a:schemeClr val="dk1"/>
              </a:solidFill>
            </a:endParaRPr>
          </a:p>
        </p:txBody>
      </p:sp>
      <p:sp>
        <p:nvSpPr>
          <p:cNvPr id="193" name="Google Shape;193;p26"/>
          <p:cNvSpPr txBox="1"/>
          <p:nvPr/>
        </p:nvSpPr>
        <p:spPr>
          <a:xfrm>
            <a:off x="755250" y="1585350"/>
            <a:ext cx="74964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●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petite équipe projet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○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pluridisciplinaire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○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toutes les compétences pour réaliser le Sprint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○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petite pour être réactive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●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un Scrum Master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●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un Product Owner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●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les Developers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7613" y="4598574"/>
            <a:ext cx="968774" cy="544925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7"/>
          <p:cNvSpPr/>
          <p:nvPr/>
        </p:nvSpPr>
        <p:spPr>
          <a:xfrm>
            <a:off x="-7200" y="0"/>
            <a:ext cx="9158400" cy="1546500"/>
          </a:xfrm>
          <a:prstGeom prst="rect">
            <a:avLst/>
          </a:prstGeom>
          <a:solidFill>
            <a:srgbClr val="FFB4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7"/>
          <p:cNvSpPr/>
          <p:nvPr/>
        </p:nvSpPr>
        <p:spPr>
          <a:xfrm>
            <a:off x="363600" y="696900"/>
            <a:ext cx="8279700" cy="3901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7"/>
          <p:cNvSpPr txBox="1"/>
          <p:nvPr/>
        </p:nvSpPr>
        <p:spPr>
          <a:xfrm>
            <a:off x="363600" y="296700"/>
            <a:ext cx="273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Agile et Scrum</a:t>
            </a:r>
            <a:endParaRPr b="1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02" name="Google Shape;202;p27"/>
          <p:cNvSpPr txBox="1"/>
          <p:nvPr/>
        </p:nvSpPr>
        <p:spPr>
          <a:xfrm>
            <a:off x="2213250" y="817875"/>
            <a:ext cx="458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000">
                <a:solidFill>
                  <a:schemeClr val="dk1"/>
                </a:solidFill>
              </a:rPr>
              <a:t>Scrum - Les rôles</a:t>
            </a:r>
            <a:endParaRPr b="1" sz="3000">
              <a:solidFill>
                <a:schemeClr val="dk1"/>
              </a:solidFill>
            </a:endParaRPr>
          </a:p>
        </p:txBody>
      </p:sp>
      <p:sp>
        <p:nvSpPr>
          <p:cNvPr id="203" name="Google Shape;203;p27"/>
          <p:cNvSpPr txBox="1"/>
          <p:nvPr/>
        </p:nvSpPr>
        <p:spPr>
          <a:xfrm>
            <a:off x="755250" y="1585350"/>
            <a:ext cx="74964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●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différents de ceux de la conduite de projet “classique” !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●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Product Owner : directeur produit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●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Scrum Master : chef de mêlée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●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Developers : équipe de réalisation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7613" y="4598574"/>
            <a:ext cx="968774" cy="544925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8"/>
          <p:cNvSpPr/>
          <p:nvPr/>
        </p:nvSpPr>
        <p:spPr>
          <a:xfrm>
            <a:off x="-7200" y="0"/>
            <a:ext cx="9158400" cy="1546500"/>
          </a:xfrm>
          <a:prstGeom prst="rect">
            <a:avLst/>
          </a:prstGeom>
          <a:solidFill>
            <a:srgbClr val="FFB4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8"/>
          <p:cNvSpPr/>
          <p:nvPr/>
        </p:nvSpPr>
        <p:spPr>
          <a:xfrm>
            <a:off x="363600" y="696900"/>
            <a:ext cx="8279700" cy="3901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8"/>
          <p:cNvSpPr txBox="1"/>
          <p:nvPr/>
        </p:nvSpPr>
        <p:spPr>
          <a:xfrm>
            <a:off x="363600" y="296700"/>
            <a:ext cx="273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Agile et Scrum</a:t>
            </a:r>
            <a:endParaRPr b="1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12" name="Google Shape;212;p28"/>
          <p:cNvSpPr txBox="1"/>
          <p:nvPr/>
        </p:nvSpPr>
        <p:spPr>
          <a:xfrm>
            <a:off x="2213250" y="817875"/>
            <a:ext cx="458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000">
                <a:solidFill>
                  <a:schemeClr val="dk1"/>
                </a:solidFill>
              </a:rPr>
              <a:t>Scrum - Les rôles</a:t>
            </a:r>
            <a:endParaRPr b="1" sz="3000">
              <a:solidFill>
                <a:schemeClr val="dk1"/>
              </a:solidFill>
            </a:endParaRPr>
          </a:p>
        </p:txBody>
      </p:sp>
      <p:sp>
        <p:nvSpPr>
          <p:cNvPr id="213" name="Google Shape;213;p28"/>
          <p:cNvSpPr txBox="1"/>
          <p:nvPr/>
        </p:nvSpPr>
        <p:spPr>
          <a:xfrm>
            <a:off x="755250" y="1585350"/>
            <a:ext cx="7496400" cy="25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</a:pPr>
            <a:r>
              <a:rPr b="1" lang="fr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Product Owner</a:t>
            </a:r>
            <a:endParaRPr b="1"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○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responsable du produit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○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expert métier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○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formule les besoins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○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gère et communique les besoins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○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s’assure que les besoins sont compris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7613" y="4598574"/>
            <a:ext cx="968774" cy="544925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9"/>
          <p:cNvSpPr/>
          <p:nvPr/>
        </p:nvSpPr>
        <p:spPr>
          <a:xfrm>
            <a:off x="-7200" y="0"/>
            <a:ext cx="9158400" cy="1546500"/>
          </a:xfrm>
          <a:prstGeom prst="rect">
            <a:avLst/>
          </a:prstGeom>
          <a:solidFill>
            <a:srgbClr val="FFB4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9"/>
          <p:cNvSpPr/>
          <p:nvPr/>
        </p:nvSpPr>
        <p:spPr>
          <a:xfrm>
            <a:off x="363600" y="696900"/>
            <a:ext cx="8279700" cy="3901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9"/>
          <p:cNvSpPr txBox="1"/>
          <p:nvPr/>
        </p:nvSpPr>
        <p:spPr>
          <a:xfrm>
            <a:off x="363600" y="296700"/>
            <a:ext cx="273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Agile et Scrum</a:t>
            </a:r>
            <a:endParaRPr b="1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22" name="Google Shape;222;p29"/>
          <p:cNvSpPr txBox="1"/>
          <p:nvPr/>
        </p:nvSpPr>
        <p:spPr>
          <a:xfrm>
            <a:off x="2213250" y="817875"/>
            <a:ext cx="458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000">
                <a:solidFill>
                  <a:schemeClr val="dk1"/>
                </a:solidFill>
              </a:rPr>
              <a:t>Scrum - Les rôles</a:t>
            </a:r>
            <a:endParaRPr b="1" sz="3000">
              <a:solidFill>
                <a:schemeClr val="dk1"/>
              </a:solidFill>
            </a:endParaRPr>
          </a:p>
        </p:txBody>
      </p:sp>
      <p:sp>
        <p:nvSpPr>
          <p:cNvPr id="223" name="Google Shape;223;p29"/>
          <p:cNvSpPr txBox="1"/>
          <p:nvPr/>
        </p:nvSpPr>
        <p:spPr>
          <a:xfrm>
            <a:off x="755250" y="1585350"/>
            <a:ext cx="74964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</a:pPr>
            <a:r>
              <a:rPr b="1" lang="fr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Scrum Master</a:t>
            </a:r>
            <a:endParaRPr b="1"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○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facilitateur du projet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○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protège l’équipe des perturbations extérieures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○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responsable du projet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○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s’assure du respect de la méthode Scrum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○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peut être un Developer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○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ne peut pas être Product Owner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7613" y="4598574"/>
            <a:ext cx="968774" cy="544925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30"/>
          <p:cNvSpPr/>
          <p:nvPr/>
        </p:nvSpPr>
        <p:spPr>
          <a:xfrm>
            <a:off x="-7200" y="0"/>
            <a:ext cx="9158400" cy="1546500"/>
          </a:xfrm>
          <a:prstGeom prst="rect">
            <a:avLst/>
          </a:prstGeom>
          <a:solidFill>
            <a:srgbClr val="FFB4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30"/>
          <p:cNvSpPr/>
          <p:nvPr/>
        </p:nvSpPr>
        <p:spPr>
          <a:xfrm>
            <a:off x="363600" y="696900"/>
            <a:ext cx="8279700" cy="3901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30"/>
          <p:cNvSpPr txBox="1"/>
          <p:nvPr/>
        </p:nvSpPr>
        <p:spPr>
          <a:xfrm>
            <a:off x="363600" y="296700"/>
            <a:ext cx="273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Agile et Scrum</a:t>
            </a:r>
            <a:endParaRPr b="1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32" name="Google Shape;232;p30"/>
          <p:cNvSpPr txBox="1"/>
          <p:nvPr/>
        </p:nvSpPr>
        <p:spPr>
          <a:xfrm>
            <a:off x="2213250" y="817875"/>
            <a:ext cx="458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000">
                <a:solidFill>
                  <a:schemeClr val="dk1"/>
                </a:solidFill>
              </a:rPr>
              <a:t>Scrum - Les rôles</a:t>
            </a:r>
            <a:endParaRPr b="1" sz="3000">
              <a:solidFill>
                <a:schemeClr val="dk1"/>
              </a:solidFill>
            </a:endParaRPr>
          </a:p>
        </p:txBody>
      </p:sp>
      <p:sp>
        <p:nvSpPr>
          <p:cNvPr id="233" name="Google Shape;233;p30"/>
          <p:cNvSpPr txBox="1"/>
          <p:nvPr/>
        </p:nvSpPr>
        <p:spPr>
          <a:xfrm>
            <a:off x="755250" y="1585350"/>
            <a:ext cx="7496400" cy="25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</a:pPr>
            <a:r>
              <a:rPr b="1" lang="fr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Developers</a:t>
            </a:r>
            <a:endParaRPr b="1"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○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équipe de réalisation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○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construit le projet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○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travaillent les uns avec les autres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○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analystes, concepteurs, développeurs, UI / UX designer, architectes…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7613" y="4598574"/>
            <a:ext cx="968774" cy="544925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31"/>
          <p:cNvSpPr/>
          <p:nvPr/>
        </p:nvSpPr>
        <p:spPr>
          <a:xfrm>
            <a:off x="-7200" y="0"/>
            <a:ext cx="9158400" cy="1546500"/>
          </a:xfrm>
          <a:prstGeom prst="rect">
            <a:avLst/>
          </a:prstGeom>
          <a:solidFill>
            <a:srgbClr val="FFB4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31"/>
          <p:cNvSpPr/>
          <p:nvPr/>
        </p:nvSpPr>
        <p:spPr>
          <a:xfrm>
            <a:off x="363600" y="696900"/>
            <a:ext cx="8279700" cy="3901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31"/>
          <p:cNvSpPr txBox="1"/>
          <p:nvPr/>
        </p:nvSpPr>
        <p:spPr>
          <a:xfrm>
            <a:off x="363600" y="296700"/>
            <a:ext cx="273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Agile et Scrum</a:t>
            </a:r>
            <a:endParaRPr b="1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42" name="Google Shape;242;p31"/>
          <p:cNvSpPr txBox="1"/>
          <p:nvPr/>
        </p:nvSpPr>
        <p:spPr>
          <a:xfrm>
            <a:off x="2213250" y="817875"/>
            <a:ext cx="458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000">
                <a:solidFill>
                  <a:schemeClr val="dk1"/>
                </a:solidFill>
              </a:rPr>
              <a:t>Scrum - Les Artefacts</a:t>
            </a:r>
            <a:endParaRPr b="1" sz="3000">
              <a:solidFill>
                <a:schemeClr val="dk1"/>
              </a:solidFill>
            </a:endParaRPr>
          </a:p>
        </p:txBody>
      </p:sp>
      <p:sp>
        <p:nvSpPr>
          <p:cNvPr id="243" name="Google Shape;243;p31"/>
          <p:cNvSpPr txBox="1"/>
          <p:nvPr/>
        </p:nvSpPr>
        <p:spPr>
          <a:xfrm>
            <a:off x="755250" y="1585350"/>
            <a:ext cx="74964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●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Ce sont les livrables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●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Product Backlog : carnet de produit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●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Sprint Backlog : carnet de sprint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●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Product Increment : incrément de produit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7613" y="4598574"/>
            <a:ext cx="968774" cy="544925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32"/>
          <p:cNvSpPr/>
          <p:nvPr/>
        </p:nvSpPr>
        <p:spPr>
          <a:xfrm>
            <a:off x="-7200" y="0"/>
            <a:ext cx="9158400" cy="1546500"/>
          </a:xfrm>
          <a:prstGeom prst="rect">
            <a:avLst/>
          </a:prstGeom>
          <a:solidFill>
            <a:srgbClr val="FFB4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32"/>
          <p:cNvSpPr/>
          <p:nvPr/>
        </p:nvSpPr>
        <p:spPr>
          <a:xfrm>
            <a:off x="363600" y="696900"/>
            <a:ext cx="8279700" cy="3901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32"/>
          <p:cNvSpPr txBox="1"/>
          <p:nvPr/>
        </p:nvSpPr>
        <p:spPr>
          <a:xfrm>
            <a:off x="363600" y="296700"/>
            <a:ext cx="273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Agile et Scrum</a:t>
            </a:r>
            <a:endParaRPr b="1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52" name="Google Shape;252;p32"/>
          <p:cNvSpPr txBox="1"/>
          <p:nvPr/>
        </p:nvSpPr>
        <p:spPr>
          <a:xfrm>
            <a:off x="2213250" y="817875"/>
            <a:ext cx="458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000">
                <a:solidFill>
                  <a:schemeClr val="dk1"/>
                </a:solidFill>
              </a:rPr>
              <a:t>Scrum - Les Artefacts</a:t>
            </a:r>
            <a:endParaRPr b="1" sz="3000">
              <a:solidFill>
                <a:schemeClr val="dk1"/>
              </a:solidFill>
            </a:endParaRPr>
          </a:p>
        </p:txBody>
      </p:sp>
      <p:sp>
        <p:nvSpPr>
          <p:cNvPr id="253" name="Google Shape;253;p32"/>
          <p:cNvSpPr txBox="1"/>
          <p:nvPr/>
        </p:nvSpPr>
        <p:spPr>
          <a:xfrm>
            <a:off x="755250" y="1585350"/>
            <a:ext cx="74964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</a:pPr>
            <a:r>
              <a:rPr b="1" lang="fr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Product Backlog</a:t>
            </a:r>
            <a:endParaRPr b="1"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○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liste ordonnée de ce qui est nécessaire pour le produit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○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centralise ce doit être fait (besoins, exigences, fonctionnalités…)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○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liste priorisée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○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gérée par le Product Owner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○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peut évoluer pendant le projet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7613" y="4598574"/>
            <a:ext cx="968774" cy="544925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33"/>
          <p:cNvSpPr/>
          <p:nvPr/>
        </p:nvSpPr>
        <p:spPr>
          <a:xfrm>
            <a:off x="-7200" y="0"/>
            <a:ext cx="9158400" cy="1546500"/>
          </a:xfrm>
          <a:prstGeom prst="rect">
            <a:avLst/>
          </a:prstGeom>
          <a:solidFill>
            <a:srgbClr val="FFB4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33"/>
          <p:cNvSpPr/>
          <p:nvPr/>
        </p:nvSpPr>
        <p:spPr>
          <a:xfrm>
            <a:off x="363600" y="696900"/>
            <a:ext cx="8279700" cy="3901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33"/>
          <p:cNvSpPr txBox="1"/>
          <p:nvPr/>
        </p:nvSpPr>
        <p:spPr>
          <a:xfrm>
            <a:off x="363600" y="296700"/>
            <a:ext cx="273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Agile et Scrum</a:t>
            </a:r>
            <a:endParaRPr b="1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62" name="Google Shape;262;p33"/>
          <p:cNvSpPr txBox="1"/>
          <p:nvPr/>
        </p:nvSpPr>
        <p:spPr>
          <a:xfrm>
            <a:off x="2213250" y="817875"/>
            <a:ext cx="458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000">
                <a:solidFill>
                  <a:schemeClr val="dk1"/>
                </a:solidFill>
              </a:rPr>
              <a:t>Scrum - Les Artefacts</a:t>
            </a:r>
            <a:endParaRPr b="1" sz="3000">
              <a:solidFill>
                <a:schemeClr val="dk1"/>
              </a:solidFill>
            </a:endParaRPr>
          </a:p>
        </p:txBody>
      </p:sp>
      <p:sp>
        <p:nvSpPr>
          <p:cNvPr id="263" name="Google Shape;263;p33"/>
          <p:cNvSpPr txBox="1"/>
          <p:nvPr/>
        </p:nvSpPr>
        <p:spPr>
          <a:xfrm>
            <a:off x="755250" y="1585350"/>
            <a:ext cx="7496400" cy="25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</a:pPr>
            <a:r>
              <a:rPr b="1" lang="fr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Sprint</a:t>
            </a:r>
            <a:r>
              <a:rPr b="1" lang="fr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Backlog</a:t>
            </a:r>
            <a:endParaRPr b="1"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○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liste des tâches d’un Sprint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○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tâches issues du Product Backlog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○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les objectifs du Sprint ne changent pas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○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mais l’état est mis à jour tous les jours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○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géré par les Developers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7613" y="4598574"/>
            <a:ext cx="968774" cy="544925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34"/>
          <p:cNvSpPr/>
          <p:nvPr/>
        </p:nvSpPr>
        <p:spPr>
          <a:xfrm>
            <a:off x="-7200" y="0"/>
            <a:ext cx="9158400" cy="1546500"/>
          </a:xfrm>
          <a:prstGeom prst="rect">
            <a:avLst/>
          </a:prstGeom>
          <a:solidFill>
            <a:srgbClr val="FFB4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34"/>
          <p:cNvSpPr/>
          <p:nvPr/>
        </p:nvSpPr>
        <p:spPr>
          <a:xfrm>
            <a:off x="363600" y="696900"/>
            <a:ext cx="8279700" cy="3901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34"/>
          <p:cNvSpPr txBox="1"/>
          <p:nvPr/>
        </p:nvSpPr>
        <p:spPr>
          <a:xfrm>
            <a:off x="363600" y="296700"/>
            <a:ext cx="273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Agile et Scrum</a:t>
            </a:r>
            <a:endParaRPr b="1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72" name="Google Shape;272;p34"/>
          <p:cNvSpPr txBox="1"/>
          <p:nvPr/>
        </p:nvSpPr>
        <p:spPr>
          <a:xfrm>
            <a:off x="2213250" y="817875"/>
            <a:ext cx="458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000">
                <a:solidFill>
                  <a:schemeClr val="dk1"/>
                </a:solidFill>
              </a:rPr>
              <a:t>Scrum - Les Artefacts</a:t>
            </a:r>
            <a:endParaRPr b="1" sz="3000">
              <a:solidFill>
                <a:schemeClr val="dk1"/>
              </a:solidFill>
            </a:endParaRPr>
          </a:p>
        </p:txBody>
      </p:sp>
      <p:sp>
        <p:nvSpPr>
          <p:cNvPr id="273" name="Google Shape;273;p34"/>
          <p:cNvSpPr txBox="1"/>
          <p:nvPr/>
        </p:nvSpPr>
        <p:spPr>
          <a:xfrm>
            <a:off x="755250" y="1585350"/>
            <a:ext cx="7496400" cy="27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</a:pPr>
            <a:r>
              <a:rPr b="1" lang="fr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Product Increment</a:t>
            </a:r>
            <a:endParaRPr b="1"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○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réalisation du Sprint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○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est ajouté aux incréments précédents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○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permet d’avancer vers le produit définitif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○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est aligné sur le DoD (Definition of Done : ensemble des conditions nécessaires pour considérer un élément comme terminé et livrable)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7613" y="4598574"/>
            <a:ext cx="968774" cy="544925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35"/>
          <p:cNvSpPr/>
          <p:nvPr/>
        </p:nvSpPr>
        <p:spPr>
          <a:xfrm>
            <a:off x="-7200" y="0"/>
            <a:ext cx="9158400" cy="1546500"/>
          </a:xfrm>
          <a:prstGeom prst="rect">
            <a:avLst/>
          </a:prstGeom>
          <a:solidFill>
            <a:srgbClr val="FFB4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35"/>
          <p:cNvSpPr/>
          <p:nvPr/>
        </p:nvSpPr>
        <p:spPr>
          <a:xfrm>
            <a:off x="363600" y="696900"/>
            <a:ext cx="8279700" cy="3901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35"/>
          <p:cNvSpPr txBox="1"/>
          <p:nvPr/>
        </p:nvSpPr>
        <p:spPr>
          <a:xfrm>
            <a:off x="363600" y="296700"/>
            <a:ext cx="273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Agile et Scrum</a:t>
            </a:r>
            <a:endParaRPr b="1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82" name="Google Shape;282;p35"/>
          <p:cNvSpPr txBox="1"/>
          <p:nvPr/>
        </p:nvSpPr>
        <p:spPr>
          <a:xfrm>
            <a:off x="755250" y="817875"/>
            <a:ext cx="7496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000">
                <a:solidFill>
                  <a:schemeClr val="dk1"/>
                </a:solidFill>
              </a:rPr>
              <a:t>Scrum - Les Événements</a:t>
            </a:r>
            <a:endParaRPr b="1" sz="3000">
              <a:solidFill>
                <a:schemeClr val="dk1"/>
              </a:solidFill>
            </a:endParaRPr>
          </a:p>
        </p:txBody>
      </p:sp>
      <p:sp>
        <p:nvSpPr>
          <p:cNvPr id="283" name="Google Shape;283;p35"/>
          <p:cNvSpPr txBox="1"/>
          <p:nvPr/>
        </p:nvSpPr>
        <p:spPr>
          <a:xfrm>
            <a:off x="755250" y="1585350"/>
            <a:ext cx="74964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●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Sprint : pointe de vitesse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●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Sprint Planning : planification du Sprint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●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Daily Scrum : mêlée quotidienne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●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Sprint Review : revue de Sprint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●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Sprint Restrospective : rétrospective du Sprint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Google Shape;288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7613" y="4598574"/>
            <a:ext cx="968774" cy="544925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36"/>
          <p:cNvSpPr/>
          <p:nvPr/>
        </p:nvSpPr>
        <p:spPr>
          <a:xfrm>
            <a:off x="-7200" y="0"/>
            <a:ext cx="9158400" cy="1546500"/>
          </a:xfrm>
          <a:prstGeom prst="rect">
            <a:avLst/>
          </a:prstGeom>
          <a:solidFill>
            <a:srgbClr val="FFB4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36"/>
          <p:cNvSpPr/>
          <p:nvPr/>
        </p:nvSpPr>
        <p:spPr>
          <a:xfrm>
            <a:off x="363600" y="696900"/>
            <a:ext cx="8279700" cy="3901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36"/>
          <p:cNvSpPr txBox="1"/>
          <p:nvPr/>
        </p:nvSpPr>
        <p:spPr>
          <a:xfrm>
            <a:off x="363600" y="296700"/>
            <a:ext cx="273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Agile et Scrum</a:t>
            </a:r>
            <a:endParaRPr b="1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92" name="Google Shape;292;p36"/>
          <p:cNvSpPr txBox="1"/>
          <p:nvPr/>
        </p:nvSpPr>
        <p:spPr>
          <a:xfrm>
            <a:off x="755250" y="817875"/>
            <a:ext cx="7496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000">
                <a:solidFill>
                  <a:schemeClr val="dk1"/>
                </a:solidFill>
              </a:rPr>
              <a:t>Scrum - Les Événements</a:t>
            </a:r>
            <a:endParaRPr b="1" sz="3000">
              <a:solidFill>
                <a:schemeClr val="dk1"/>
              </a:solidFill>
            </a:endParaRPr>
          </a:p>
        </p:txBody>
      </p:sp>
      <p:sp>
        <p:nvSpPr>
          <p:cNvPr id="293" name="Google Shape;293;p36"/>
          <p:cNvSpPr txBox="1"/>
          <p:nvPr/>
        </p:nvSpPr>
        <p:spPr>
          <a:xfrm>
            <a:off x="755250" y="1585350"/>
            <a:ext cx="7496400" cy="25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</a:pPr>
            <a:r>
              <a:rPr b="1" lang="fr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Sprint Planning</a:t>
            </a:r>
            <a:endParaRPr b="1"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○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planification du Sprint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○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création du Sprint Backlog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○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explication du Sprint (pourquoi, que faire, comment ?)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○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Product Owner, Scrum Master, Developers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○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durée : max 8h pour Sprint de 1 mois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7613" y="4598574"/>
            <a:ext cx="968774" cy="544925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37"/>
          <p:cNvSpPr/>
          <p:nvPr/>
        </p:nvSpPr>
        <p:spPr>
          <a:xfrm>
            <a:off x="-7200" y="0"/>
            <a:ext cx="9158400" cy="1546500"/>
          </a:xfrm>
          <a:prstGeom prst="rect">
            <a:avLst/>
          </a:prstGeom>
          <a:solidFill>
            <a:srgbClr val="FFB4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37"/>
          <p:cNvSpPr/>
          <p:nvPr/>
        </p:nvSpPr>
        <p:spPr>
          <a:xfrm>
            <a:off x="363600" y="696900"/>
            <a:ext cx="8279700" cy="3901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37"/>
          <p:cNvSpPr txBox="1"/>
          <p:nvPr/>
        </p:nvSpPr>
        <p:spPr>
          <a:xfrm>
            <a:off x="363600" y="296700"/>
            <a:ext cx="273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Agile et Scrum</a:t>
            </a:r>
            <a:endParaRPr b="1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02" name="Google Shape;302;p37"/>
          <p:cNvSpPr txBox="1"/>
          <p:nvPr/>
        </p:nvSpPr>
        <p:spPr>
          <a:xfrm>
            <a:off x="755250" y="817875"/>
            <a:ext cx="7496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000">
                <a:solidFill>
                  <a:schemeClr val="dk1"/>
                </a:solidFill>
              </a:rPr>
              <a:t>Scrum - Les Événements</a:t>
            </a:r>
            <a:endParaRPr b="1" sz="3000">
              <a:solidFill>
                <a:schemeClr val="dk1"/>
              </a:solidFill>
            </a:endParaRPr>
          </a:p>
        </p:txBody>
      </p:sp>
      <p:sp>
        <p:nvSpPr>
          <p:cNvPr id="303" name="Google Shape;303;p37"/>
          <p:cNvSpPr txBox="1"/>
          <p:nvPr/>
        </p:nvSpPr>
        <p:spPr>
          <a:xfrm>
            <a:off x="755250" y="1585350"/>
            <a:ext cx="7496400" cy="30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</a:pPr>
            <a:r>
              <a:rPr b="1" lang="fr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Daily Scrum</a:t>
            </a:r>
            <a:endParaRPr b="1"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○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rituel quotidien, heure et lieu fixes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○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permet de suivre le plan de développement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■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ce qui est fait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■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ce qui est à faire aujourd’hui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■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les problèmes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○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Scrum Master, Developers, si besoin Product Owner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○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durée : 15 minutes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7613" y="4598574"/>
            <a:ext cx="968774" cy="544925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38"/>
          <p:cNvSpPr/>
          <p:nvPr/>
        </p:nvSpPr>
        <p:spPr>
          <a:xfrm>
            <a:off x="-7200" y="0"/>
            <a:ext cx="9158400" cy="1546500"/>
          </a:xfrm>
          <a:prstGeom prst="rect">
            <a:avLst/>
          </a:prstGeom>
          <a:solidFill>
            <a:srgbClr val="FFB4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38"/>
          <p:cNvSpPr/>
          <p:nvPr/>
        </p:nvSpPr>
        <p:spPr>
          <a:xfrm>
            <a:off x="363600" y="696900"/>
            <a:ext cx="8279700" cy="3901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38"/>
          <p:cNvSpPr txBox="1"/>
          <p:nvPr/>
        </p:nvSpPr>
        <p:spPr>
          <a:xfrm>
            <a:off x="363600" y="296700"/>
            <a:ext cx="273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Agile et Scrum</a:t>
            </a:r>
            <a:endParaRPr b="1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12" name="Google Shape;312;p38"/>
          <p:cNvSpPr txBox="1"/>
          <p:nvPr/>
        </p:nvSpPr>
        <p:spPr>
          <a:xfrm>
            <a:off x="755250" y="817875"/>
            <a:ext cx="7496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000">
                <a:solidFill>
                  <a:schemeClr val="dk1"/>
                </a:solidFill>
              </a:rPr>
              <a:t>Scrum - Les Événements</a:t>
            </a:r>
            <a:endParaRPr b="1" sz="3000">
              <a:solidFill>
                <a:schemeClr val="dk1"/>
              </a:solidFill>
            </a:endParaRPr>
          </a:p>
        </p:txBody>
      </p:sp>
      <p:sp>
        <p:nvSpPr>
          <p:cNvPr id="313" name="Google Shape;313;p38"/>
          <p:cNvSpPr txBox="1"/>
          <p:nvPr/>
        </p:nvSpPr>
        <p:spPr>
          <a:xfrm>
            <a:off x="755250" y="1585350"/>
            <a:ext cx="7496400" cy="25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</a:pPr>
            <a:r>
              <a:rPr b="1" lang="fr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Sprint Review</a:t>
            </a:r>
            <a:endParaRPr b="1"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○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inspection du résultat du Sprint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○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déterminer vers où il faut aller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○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voir ce qui a changé dans l’environnement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○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Product Owner, Scrum Master, Developers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○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durée : max 4h pour Sprint de 1 mois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8" name="Google Shape;318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7613" y="4598574"/>
            <a:ext cx="968774" cy="544925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39"/>
          <p:cNvSpPr/>
          <p:nvPr/>
        </p:nvSpPr>
        <p:spPr>
          <a:xfrm>
            <a:off x="-7200" y="0"/>
            <a:ext cx="9158400" cy="1546500"/>
          </a:xfrm>
          <a:prstGeom prst="rect">
            <a:avLst/>
          </a:prstGeom>
          <a:solidFill>
            <a:srgbClr val="FFB4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39"/>
          <p:cNvSpPr/>
          <p:nvPr/>
        </p:nvSpPr>
        <p:spPr>
          <a:xfrm>
            <a:off x="363600" y="696900"/>
            <a:ext cx="8279700" cy="3901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39"/>
          <p:cNvSpPr txBox="1"/>
          <p:nvPr/>
        </p:nvSpPr>
        <p:spPr>
          <a:xfrm>
            <a:off x="363600" y="296700"/>
            <a:ext cx="273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Agile et Scrum</a:t>
            </a:r>
            <a:endParaRPr b="1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22" name="Google Shape;322;p39"/>
          <p:cNvSpPr txBox="1"/>
          <p:nvPr/>
        </p:nvSpPr>
        <p:spPr>
          <a:xfrm>
            <a:off x="755250" y="817875"/>
            <a:ext cx="7496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000">
                <a:solidFill>
                  <a:schemeClr val="dk1"/>
                </a:solidFill>
              </a:rPr>
              <a:t>Scrum - Les Événements</a:t>
            </a:r>
            <a:endParaRPr b="1" sz="3000">
              <a:solidFill>
                <a:schemeClr val="dk1"/>
              </a:solidFill>
            </a:endParaRPr>
          </a:p>
        </p:txBody>
      </p:sp>
      <p:sp>
        <p:nvSpPr>
          <p:cNvPr id="323" name="Google Shape;323;p39"/>
          <p:cNvSpPr txBox="1"/>
          <p:nvPr/>
        </p:nvSpPr>
        <p:spPr>
          <a:xfrm>
            <a:off x="755250" y="1585350"/>
            <a:ext cx="74964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</a:pPr>
            <a:r>
              <a:rPr b="1" lang="fr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Sprint Retrospective</a:t>
            </a:r>
            <a:endParaRPr b="1"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○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rituel de fin de Sprint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○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réflexions sur l’amélioration de la qualité et de l’efficacité (outils, interactions, communication…)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○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vise à améliorer le quotidien de l’équipe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○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Scrum Master, Developers, si besoin Product Owner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○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durée : max 3h pour Sprint de 1 mois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8" name="Google Shape;328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7613" y="4598574"/>
            <a:ext cx="968774" cy="544925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40"/>
          <p:cNvSpPr/>
          <p:nvPr/>
        </p:nvSpPr>
        <p:spPr>
          <a:xfrm>
            <a:off x="-7200" y="0"/>
            <a:ext cx="9158400" cy="1546500"/>
          </a:xfrm>
          <a:prstGeom prst="rect">
            <a:avLst/>
          </a:prstGeom>
          <a:solidFill>
            <a:srgbClr val="FFB4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40"/>
          <p:cNvSpPr/>
          <p:nvPr/>
        </p:nvSpPr>
        <p:spPr>
          <a:xfrm>
            <a:off x="363600" y="696900"/>
            <a:ext cx="8279700" cy="3901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40"/>
          <p:cNvSpPr txBox="1"/>
          <p:nvPr/>
        </p:nvSpPr>
        <p:spPr>
          <a:xfrm>
            <a:off x="363600" y="296700"/>
            <a:ext cx="273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Agile et Scrum</a:t>
            </a:r>
            <a:endParaRPr b="1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32" name="Google Shape;332;p40"/>
          <p:cNvSpPr txBox="1"/>
          <p:nvPr/>
        </p:nvSpPr>
        <p:spPr>
          <a:xfrm>
            <a:off x="755250" y="817875"/>
            <a:ext cx="7496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000">
                <a:solidFill>
                  <a:schemeClr val="dk1"/>
                </a:solidFill>
              </a:rPr>
              <a:t>Scrum - Synthèse</a:t>
            </a:r>
            <a:endParaRPr b="1" sz="3000">
              <a:solidFill>
                <a:schemeClr val="dk1"/>
              </a:solidFill>
            </a:endParaRPr>
          </a:p>
        </p:txBody>
      </p:sp>
      <p:pic>
        <p:nvPicPr>
          <p:cNvPr id="333" name="Google Shape;333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48660" y="1369000"/>
            <a:ext cx="5509581" cy="310109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8" name="Google Shape;338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7613" y="4598574"/>
            <a:ext cx="968774" cy="544925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41"/>
          <p:cNvSpPr/>
          <p:nvPr/>
        </p:nvSpPr>
        <p:spPr>
          <a:xfrm>
            <a:off x="-7200" y="0"/>
            <a:ext cx="9158400" cy="1546500"/>
          </a:xfrm>
          <a:prstGeom prst="rect">
            <a:avLst/>
          </a:prstGeom>
          <a:solidFill>
            <a:srgbClr val="FFB4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41"/>
          <p:cNvSpPr/>
          <p:nvPr/>
        </p:nvSpPr>
        <p:spPr>
          <a:xfrm>
            <a:off x="363600" y="696900"/>
            <a:ext cx="8279700" cy="3901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41"/>
          <p:cNvSpPr txBox="1"/>
          <p:nvPr/>
        </p:nvSpPr>
        <p:spPr>
          <a:xfrm>
            <a:off x="363600" y="296700"/>
            <a:ext cx="273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Agile et Scrum</a:t>
            </a:r>
            <a:endParaRPr b="1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42" name="Google Shape;342;p41"/>
          <p:cNvSpPr txBox="1"/>
          <p:nvPr/>
        </p:nvSpPr>
        <p:spPr>
          <a:xfrm>
            <a:off x="799200" y="2324475"/>
            <a:ext cx="7299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000">
                <a:solidFill>
                  <a:schemeClr val="dk1"/>
                </a:solidFill>
              </a:rPr>
              <a:t>Des questions ?</a:t>
            </a:r>
            <a:endParaRPr b="1" sz="3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