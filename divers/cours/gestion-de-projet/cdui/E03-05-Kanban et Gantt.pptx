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3D7B3E-8068-4E69-AA68-63BB73C7A747}">
  <a:tblStyle styleId="{563D7B3E-8068-4E69-AA68-63BB73C7A7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swald-regular.fntdata"/><Relationship Id="rId25" Type="http://schemas.openxmlformats.org/officeDocument/2006/relationships/font" Target="fonts/MontserratMedium-boldItalic.fntdata"/><Relationship Id="rId27" Type="http://schemas.openxmlformats.org/officeDocument/2006/relationships/font" Target="fonts/Oswa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e79704727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e79704727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f2ccdf77b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f2ccdf77b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51344595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a51344595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51344595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a51344595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51344595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a51344595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51344595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a51344595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51344595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a51344595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51344595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a51344595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7af162a0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7af162a0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7af0a2f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7af0a2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1254150" y="696900"/>
            <a:ext cx="6635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organisologie.com/comment-sorganiser/comment-atteindre-ses-objectifs/plan-action/methode-kanban-toyota-contenu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hyperlink" Target="https://fr.wikipedia.org/wiki/Karol_Adamiecki" TargetMode="External"/><Relationship Id="rId5" Type="http://schemas.openxmlformats.org/officeDocument/2006/relationships/hyperlink" Target="https://fr.wikipedia.org/wiki/Henry_Laurence_Gant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597050" y="953475"/>
            <a:ext cx="5949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Kanban et Gantt</a:t>
            </a:r>
            <a:endParaRPr b="1" sz="3000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5450" y="1599975"/>
            <a:ext cx="4453104" cy="269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1254150" y="696900"/>
            <a:ext cx="6635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2390400" y="953475"/>
            <a:ext cx="436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AU MENU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390400" y="1793550"/>
            <a:ext cx="4363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-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Kanban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-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Diagramme de Gantt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1303" y="3091125"/>
            <a:ext cx="1808551" cy="150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Kanban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Kanban ?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55250" y="1585350"/>
            <a:ext cx="74964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 japonais カンバン ou 看板 (kanban, « étiquette »)</a:t>
            </a:r>
            <a:b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méthode de gestion de production, créée par Taiichi Ōno et mise en œuvre chez Toyota à la fin des années 1950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utilisée pour la gestion des tâches (du quotidien, d’un projet…)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Kanban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Principe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755250" y="1585350"/>
            <a:ext cx="74964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une carte descriptive d’une action à réaliser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posée sur un tableau avec plusieurs statuts pour l’action :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à faire (</a:t>
            </a:r>
            <a:r>
              <a:rPr i="1"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 do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cours (doing / </a:t>
            </a:r>
            <a:r>
              <a:rPr i="1"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progress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fait (</a:t>
            </a:r>
            <a:r>
              <a:rPr i="1"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done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 glisse la carte dans la colonne qui correspond à son statut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Kanban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Intérêts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55250" y="1585350"/>
            <a:ext cx="74964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permet de suivre les tâches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outil de management visuel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simple à mettre en œuvre et à comprendre !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souplesse d’utilisation : liberté sur les cartes et les colonnes.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Kanban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Base</a:t>
            </a:r>
            <a:endParaRPr b="1" sz="3000">
              <a:solidFill>
                <a:schemeClr val="dk1"/>
              </a:solidFill>
            </a:endParaRPr>
          </a:p>
        </p:txBody>
      </p:sp>
      <p:grpSp>
        <p:nvGrpSpPr>
          <p:cNvPr id="108" name="Google Shape;108;p18"/>
          <p:cNvGrpSpPr/>
          <p:nvPr/>
        </p:nvGrpSpPr>
        <p:grpSpPr>
          <a:xfrm>
            <a:off x="726025" y="1546500"/>
            <a:ext cx="7554825" cy="2783674"/>
            <a:chOff x="726038" y="1546500"/>
            <a:chExt cx="7554825" cy="2783674"/>
          </a:xfrm>
        </p:grpSpPr>
        <p:pic>
          <p:nvPicPr>
            <p:cNvPr id="109" name="Google Shape;109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6038" y="1636375"/>
              <a:ext cx="4453104" cy="2693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8"/>
            <p:cNvPicPr preferRelativeResize="0"/>
            <p:nvPr/>
          </p:nvPicPr>
          <p:blipFill rotWithShape="1">
            <a:blip r:embed="rId5">
              <a:alphaModFix/>
            </a:blip>
            <a:srcRect b="0" l="0" r="2037" t="0"/>
            <a:stretch/>
          </p:blipFill>
          <p:spPr>
            <a:xfrm>
              <a:off x="5414738" y="1546500"/>
              <a:ext cx="2866125" cy="219295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1" name="Google Shape;111;p18"/>
            <p:cNvCxnSpPr/>
            <p:nvPr/>
          </p:nvCxnSpPr>
          <p:spPr>
            <a:xfrm flipH="1" rot="10800000">
              <a:off x="4959013" y="2551825"/>
              <a:ext cx="1211700" cy="1566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2" name="Google Shape;112;p18"/>
          <p:cNvSpPr txBox="1"/>
          <p:nvPr/>
        </p:nvSpPr>
        <p:spPr>
          <a:xfrm>
            <a:off x="5948375" y="3831525"/>
            <a:ext cx="20988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500" u="sng">
                <a:solidFill>
                  <a:srgbClr val="0097A7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Plus d’infos</a:t>
            </a:r>
            <a:endParaRPr sz="1500">
              <a:solidFill>
                <a:srgbClr val="59595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Diagramme de </a:t>
            </a: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Gantt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Diagramme de Gantt ?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755250" y="1585350"/>
            <a:ext cx="74964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créé par </a:t>
            </a:r>
            <a:r>
              <a:rPr lang="fr" sz="18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/>
              </a:rPr>
              <a:t>Karol Adamiecki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 1886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popularisé par </a:t>
            </a:r>
            <a:r>
              <a:rPr lang="fr" sz="1800" u="sng">
                <a:solidFill>
                  <a:schemeClr val="hlink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5"/>
              </a:rPr>
              <a:t>Henry L. Gantt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 1910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gestion des t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âches, des dates et des dépendances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 peut y ajouter les ressources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Diagramme de </a:t>
            </a: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Gantt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Principe</a:t>
            </a:r>
            <a:endParaRPr b="1" sz="3000">
              <a:solidFill>
                <a:schemeClr val="dk1"/>
              </a:solidFill>
            </a:endParaRPr>
          </a:p>
        </p:txBody>
      </p:sp>
      <p:graphicFrame>
        <p:nvGraphicFramePr>
          <p:cNvPr id="132" name="Google Shape;132;p20"/>
          <p:cNvGraphicFramePr/>
          <p:nvPr/>
        </p:nvGraphicFramePr>
        <p:xfrm>
          <a:off x="455288" y="1946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{563D7B3E-8068-4E69-AA68-63BB73C7A747}</a:tableStyleId>
              </a:tblPr>
              <a:tblGrid>
                <a:gridCol w="1906725"/>
                <a:gridCol w="1135500"/>
                <a:gridCol w="1135500"/>
                <a:gridCol w="1135500"/>
                <a:gridCol w="1135500"/>
                <a:gridCol w="1135500"/>
                <a:gridCol w="512100"/>
              </a:tblGrid>
              <a:tr h="37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4"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B400"/>
                    </a:solidFill>
                  </a:tcPr>
                </a:tc>
                <a:tc rowSpan="2" hMerge="1"/>
                <a:tc rowSpan="2" hMerge="1"/>
                <a:tc rowSpan="2" hMerge="1"/>
              </a:tr>
              <a:tr h="37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Tâche</a:t>
                      </a:r>
                      <a:endParaRPr b="1"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Date début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Date fin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FFB400"/>
                    </a:solidFill>
                  </a:tcPr>
                </a:tc>
                <a:tc gridSpan="4" vMerge="1"/>
                <a:tc hMerge="1" vMerge="1"/>
                <a:tc hMerge="1" vMerge="1"/>
                <a:tc hMerge="1" vMerge="1"/>
              </a:tr>
              <a:tr h="37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Wireframes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01/09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07/09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 hMerge="1"/>
                <a:tc hMerge="1"/>
                <a:tc hMerge="1"/>
              </a:tr>
              <a:tr h="37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Maquettes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08/09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14/09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 hMerge="1"/>
                <a:tc hMerge="1"/>
                <a:tc hMerge="1"/>
              </a:tr>
              <a:tr h="37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Intégration HTML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15/09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21/09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 hMerge="1"/>
                <a:tc hMerge="1"/>
                <a:tc hMerge="1"/>
              </a:tr>
              <a:tr h="37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Installation env dev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01/09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3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05/09</a:t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solidFill>
                      <a:srgbClr val="EEEEEE"/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sp>
        <p:nvSpPr>
          <p:cNvPr id="133" name="Google Shape;133;p20"/>
          <p:cNvSpPr txBox="1"/>
          <p:nvPr/>
        </p:nvSpPr>
        <p:spPr>
          <a:xfrm>
            <a:off x="4656505" y="2172750"/>
            <a:ext cx="3949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2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1  2  3  4  5  6  7  8  9 10 11 12 13 14 15 16 17 18 19 20 21 </a:t>
            </a:r>
            <a:endParaRPr sz="1200">
              <a:solidFill>
                <a:srgbClr val="59595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4753150" y="2840750"/>
            <a:ext cx="1217100" cy="1692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5970250" y="3230425"/>
            <a:ext cx="1217100" cy="1692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7187350" y="3612450"/>
            <a:ext cx="1217100" cy="1692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4753150" y="4017450"/>
            <a:ext cx="751500" cy="169200"/>
          </a:xfrm>
          <a:prstGeom prst="rect">
            <a:avLst/>
          </a:prstGeom>
          <a:solidFill>
            <a:srgbClr val="0E63F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20"/>
          <p:cNvGrpSpPr/>
          <p:nvPr/>
        </p:nvGrpSpPr>
        <p:grpSpPr>
          <a:xfrm>
            <a:off x="5970250" y="2925000"/>
            <a:ext cx="92700" cy="300000"/>
            <a:chOff x="5970250" y="3153600"/>
            <a:chExt cx="92700" cy="300000"/>
          </a:xfrm>
        </p:grpSpPr>
        <p:cxnSp>
          <p:nvCxnSpPr>
            <p:cNvPr id="139" name="Google Shape;139;p20"/>
            <p:cNvCxnSpPr/>
            <p:nvPr/>
          </p:nvCxnSpPr>
          <p:spPr>
            <a:xfrm>
              <a:off x="5970250" y="3153950"/>
              <a:ext cx="927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0"/>
            <p:cNvCxnSpPr/>
            <p:nvPr/>
          </p:nvCxnSpPr>
          <p:spPr>
            <a:xfrm>
              <a:off x="6058600" y="3153600"/>
              <a:ext cx="0" cy="300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41" name="Google Shape;141;p20"/>
          <p:cNvGrpSpPr/>
          <p:nvPr/>
        </p:nvGrpSpPr>
        <p:grpSpPr>
          <a:xfrm>
            <a:off x="7189450" y="3311538"/>
            <a:ext cx="92700" cy="300000"/>
            <a:chOff x="5970250" y="2848800"/>
            <a:chExt cx="92700" cy="300000"/>
          </a:xfrm>
        </p:grpSpPr>
        <p:cxnSp>
          <p:nvCxnSpPr>
            <p:cNvPr id="142" name="Google Shape;142;p20"/>
            <p:cNvCxnSpPr/>
            <p:nvPr/>
          </p:nvCxnSpPr>
          <p:spPr>
            <a:xfrm>
              <a:off x="5970250" y="2849150"/>
              <a:ext cx="927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20"/>
            <p:cNvCxnSpPr/>
            <p:nvPr/>
          </p:nvCxnSpPr>
          <p:spPr>
            <a:xfrm>
              <a:off x="6058600" y="2848800"/>
              <a:ext cx="0" cy="300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144" name="Google Shape;144;p20"/>
          <p:cNvSpPr txBox="1"/>
          <p:nvPr/>
        </p:nvSpPr>
        <p:spPr>
          <a:xfrm>
            <a:off x="363600" y="1514475"/>
            <a:ext cx="827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Liste des tâches*            Dates               Calendrier            Dépendance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5" name="Google Shape;145;p20"/>
          <p:cNvCxnSpPr/>
          <p:nvPr/>
        </p:nvCxnSpPr>
        <p:spPr>
          <a:xfrm>
            <a:off x="1266775" y="1875750"/>
            <a:ext cx="0" cy="4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0"/>
          <p:cNvCxnSpPr/>
          <p:nvPr/>
        </p:nvCxnSpPr>
        <p:spPr>
          <a:xfrm>
            <a:off x="3247975" y="1875750"/>
            <a:ext cx="0" cy="4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3628975" y="1875750"/>
            <a:ext cx="0" cy="4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5152975" y="1875750"/>
            <a:ext cx="0" cy="2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0"/>
          <p:cNvCxnSpPr/>
          <p:nvPr/>
        </p:nvCxnSpPr>
        <p:spPr>
          <a:xfrm flipH="1">
            <a:off x="6153175" y="1875750"/>
            <a:ext cx="1133400" cy="109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20"/>
          <p:cNvSpPr txBox="1"/>
          <p:nvPr/>
        </p:nvSpPr>
        <p:spPr>
          <a:xfrm>
            <a:off x="5463975" y="4250025"/>
            <a:ext cx="317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*ajout des ressources possible</a:t>
            </a:r>
            <a:endParaRPr sz="15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Diagramme de Gantt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Intérêts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755250" y="1585350"/>
            <a:ext cx="74964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permet de visualiser les tâches 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dans le temps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avec leur encha</a:t>
            </a: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înement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○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outil d’organisation complet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outil de management visuel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simple à comprendre.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Kanban et diagramme de Gantt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2213250" y="817875"/>
            <a:ext cx="45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Conclusion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755250" y="1585350"/>
            <a:ext cx="7496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deux outils simples mais pertinents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possibilité d’utiliser les deux outils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</a:pPr>
            <a:r>
              <a:rPr lang="fr"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beaucoup d’applications proposent l’un, l’autres ou les deux</a:t>
            </a:r>
            <a:endParaRPr sz="18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613" y="4598574"/>
            <a:ext cx="968774" cy="5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/>
          <p:nvPr/>
        </p:nvSpPr>
        <p:spPr>
          <a:xfrm>
            <a:off x="-7200" y="0"/>
            <a:ext cx="9158400" cy="1546500"/>
          </a:xfrm>
          <a:prstGeom prst="rect">
            <a:avLst/>
          </a:prstGeom>
          <a:solidFill>
            <a:srgbClr val="FFB4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363600" y="696900"/>
            <a:ext cx="8279700" cy="390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"/>
          <p:cNvSpPr txBox="1"/>
          <p:nvPr/>
        </p:nvSpPr>
        <p:spPr>
          <a:xfrm>
            <a:off x="363600" y="296700"/>
            <a:ext cx="2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Kanban et diagramme de Gantt</a:t>
            </a:r>
            <a:endParaRPr b="1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799200" y="2324475"/>
            <a:ext cx="729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solidFill>
                  <a:schemeClr val="dk1"/>
                </a:solidFill>
              </a:rPr>
              <a:t>Des questions ?</a:t>
            </a:r>
            <a:endParaRPr b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